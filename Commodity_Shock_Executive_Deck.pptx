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11827"/>
                </a:solidFill>
              </a:rPr>
              <a:t>Peak price vs Jan 2022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Peak vs Jan 2022</c:v>
                </c:pt>
              </c:strCache>
            </c:strRef>
          </c:tx>
          <c:dPt>
            <c:idx val="0"/>
            <c:spPr>
              <a:solidFill>
                <a:srgbClr val="DC2626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2563EB"/>
              </a:solidFill>
            </c:spPr>
          </c:dPt>
          <c:cat>
            <c:strRef>
              <c:f>Sheet1!$A$2:$A$4</c:f>
              <c:strCache>
                <c:ptCount val="3"/>
                <c:pt idx="0">
                  <c:v>Natural gas (EU)</c:v>
                </c:pt>
                <c:pt idx="1">
                  <c:v>Brent crude</c:v>
                </c:pt>
                <c:pt idx="2">
                  <c:v>Wheat</c:v>
                </c:pt>
              </c:strCache>
            </c:strRef>
          </c:cat>
          <c:val>
            <c:numRef>
              <c:f>Sheet1!$B$2:$B$4</c:f>
              <c:numCache>
                <c:formatCode>0"%"</c:formatCode>
                <c:ptCount val="3"/>
                <c:pt idx="0">
                  <c:v>150.9</c:v>
                </c:pt>
                <c:pt idx="1">
                  <c:v>37.5</c:v>
                </c:pt>
                <c:pt idx="2">
                  <c:v>36.2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100">
                <a:solidFill>
                  <a:srgbClr val="11182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11827"/>
                </a:solidFill>
              </a:rPr>
              <a:t>Consumer inflation, 2022 (annual 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2022 inflation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2563EB"/>
              </a:solidFill>
            </c:spPr>
          </c:dPt>
          <c:dPt>
            <c:idx val="3"/>
            <c:spPr>
              <a:solidFill>
                <a:srgbClr val="2563EB"/>
              </a:solidFill>
            </c:spPr>
          </c:dPt>
          <c:dPt>
            <c:idx val="4"/>
            <c:spPr>
              <a:solidFill>
                <a:srgbClr val="6B7280"/>
              </a:solidFill>
            </c:spPr>
          </c:dPt>
          <c:cat>
            <c:strRef>
              <c:f>Sheet1!$A$2:$A$6</c:f>
              <c:strCache>
                <c:ptCount val="5"/>
                <c:pt idx="0">
                  <c:v>United States</c:v>
                </c:pt>
                <c:pt idx="1">
                  <c:v>United Kingdom</c:v>
                </c:pt>
                <c:pt idx="2">
                  <c:v>Germany</c:v>
                </c:pt>
                <c:pt idx="3">
                  <c:v>France</c:v>
                </c:pt>
                <c:pt idx="4">
                  <c:v>Japan</c:v>
                </c:pt>
              </c:strCache>
            </c:strRef>
          </c:cat>
          <c:val>
            <c:numRef>
              <c:f>Sheet1!$B$2:$B$6</c:f>
              <c:numCache>
                <c:formatCode>0.0"%"</c:formatCode>
                <c:ptCount val="5"/>
                <c:pt idx="0">
                  <c:v>8.0</c:v>
                </c:pt>
                <c:pt idx="1">
                  <c:v>7.92</c:v>
                </c:pt>
                <c:pt idx="2">
                  <c:v>6.87</c:v>
                </c:pt>
                <c:pt idx="3">
                  <c:v>5.22</c:v>
                </c:pt>
                <c:pt idx="4">
                  <c:v>2.5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100">
                <a:solidFill>
                  <a:srgbClr val="11182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40280"/>
            <a:ext cx="82296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</a:rPr>
              <a:t>Commodity Shock &amp; Inflation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F3F4F6"/>
                </a:solidFill>
              </a:rPr>
              <a:t>The 2022 energy/food price shock, told from real public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6B7280"/>
                </a:solidFill>
              </a:rPr>
              <a:t>Simon Sangla  ·  Source: FRED + World Bank (vendored snapshot)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24643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6B7280"/>
                </a:solidFill>
              </a:rPr>
              <a:t>EURO GAS PEAK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24643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</a:rPr>
              <a:t>+151%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5868" y="4526280"/>
            <a:ext cx="24643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6B7280"/>
                </a:solidFill>
              </a:rPr>
              <a:t>PANEL INFLATION 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5868" y="4846320"/>
            <a:ext cx="24643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</a:rPr>
              <a:t>6.1%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8776" y="4526280"/>
            <a:ext cx="24643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6B7280"/>
                </a:solidFill>
              </a:rPr>
              <a:t>BRENT CRUDE PEAK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8776" y="4846320"/>
            <a:ext cx="24643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</a:rPr>
              <a:t>+38%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1684" y="4526280"/>
            <a:ext cx="24643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6B7280"/>
                </a:solidFill>
              </a:rPr>
              <a:t>REFERENCE 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01684" y="4846320"/>
            <a:ext cx="24643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</a:rPr>
              <a:t>Feb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2563EB"/>
                </a:solidFill>
              </a:rPr>
              <a:t>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1">
                <a:solidFill>
                  <a:srgbClr val="111827"/>
                </a:solidFill>
              </a:rPr>
              <a:t>How far did the 2022 supply shock move prices and inflation?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058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Russia and Ukraine are central to global energy and grain exports. After the 24 Feb 2022 invasion, energy and food commodities spiked and consumer inflation reached multi-decade highs.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This deck quantifies the move and the co-movement - and is explicit about what it does and does not claim.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2563EB"/>
                </a:solidFill>
              </a:rPr>
              <a:t>DATA AND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1">
                <a:solidFill>
                  <a:srgbClr val="111827"/>
                </a:solidFill>
              </a:rPr>
              <a:t>How the numbers were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0584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Commodity prices: monthly Brent, wheat, and European natural gas (FRED), Jan 2019 - Dec 2023.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Inflation: annual consumer-price inflation for five economies (World Bank).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Prices indexed to Jan 2022 = 100 so three different units compare on one scale.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Vendored snapshot - the build is offline and reproducible.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2563EB"/>
                </a:solidFill>
              </a:rPr>
              <a:t>FINDING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1">
                <a:solidFill>
                  <a:srgbClr val="111827"/>
                </a:solidFill>
              </a:rPr>
              <a:t>Commodities spiked - European gas most of all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2286000"/>
          <a:ext cx="105156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2563EB"/>
                </a:solidFill>
              </a:rPr>
              <a:t>FINDING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1">
                <a:solidFill>
                  <a:srgbClr val="111827"/>
                </a:solidFill>
              </a:rPr>
              <a:t>Inflation followed - broad, but uneven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2286000"/>
          <a:ext cx="105156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2563EB"/>
                </a:solidFill>
              </a:rPr>
              <a:t>FINDING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1">
                <a:solidFill>
                  <a:srgbClr val="111827"/>
                </a:solidFill>
              </a:rPr>
              <a:t>One shock, uneven landing - and not the only driver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0584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Japan peaked at just 2.5% in 2022 while the US hit 8.0% - same global shock, very different pass-through.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Commodity shocks were one driver among several (post-pandemic demand, supply chains, monetary policy).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European gas was already elevated in late 2021, so the +151% is measured off the Jan 2022 reference, not attributed wholesale to the war.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86400"/>
            <a:ext cx="2464308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614416"/>
            <a:ext cx="24643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6B7280"/>
                </a:solidFill>
              </a:rPr>
              <a:t>US INFLATION 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25312"/>
            <a:ext cx="24643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DC2626"/>
                </a:solidFill>
              </a:rPr>
              <a:t>8.0%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3515868" y="5486400"/>
            <a:ext cx="2464308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5868" y="5614416"/>
            <a:ext cx="24643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6B7280"/>
                </a:solidFill>
              </a:rPr>
              <a:t>JAPAN INFLATION 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5868" y="5925312"/>
            <a:ext cx="24643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2563EB"/>
                </a:solidFill>
              </a:rPr>
              <a:t>2.5%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776" y="5486400"/>
            <a:ext cx="2464308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8776" y="5614416"/>
            <a:ext cx="24643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6B7280"/>
                </a:solidFill>
              </a:rPr>
              <a:t>EURO GAS PEAK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5925312"/>
            <a:ext cx="24643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DC2626"/>
                </a:solidFill>
              </a:rPr>
              <a:t>+151%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01684" y="5486400"/>
            <a:ext cx="2464308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01684" y="5614416"/>
            <a:ext cx="24643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6B7280"/>
                </a:solidFill>
              </a:rPr>
              <a:t>5-ECONOMY AVG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1684" y="5925312"/>
            <a:ext cx="24643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1F2937"/>
                </a:solidFill>
              </a:rPr>
              <a:t>6.1%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2563EB"/>
                </a:solidFill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1">
                <a:solidFill>
                  <a:srgbClr val="111827"/>
                </a:solidFill>
              </a:rPr>
              <a:t>What this means for a decision-maker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0584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Energy is the sharp lever: gas moved far more than oil or grain, so energy exposure dominated the inflation pass-through.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Pass-through is policy- and structure-dependent - Japan absorbed the same shock with a fraction of the inflation.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Watch the reference point: % moves off a local trough overstate the war-specific component. State the baseline.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2563EB"/>
                </a:solidFill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1">
                <a:solidFill>
                  <a:srgbClr val="111827"/>
                </a:solidFill>
              </a:rPr>
              <a:t>Sources, method, and caveat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0584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Commodity prices: FRED (Brent POILBREUSDM, wheat PWHEAMTUSDM, EU gas PNGASEUUSDM), monthly.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Inflation: World Bank FP.CPI.TOTL.ZG, annual, 5 economies.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Index = price / Jan-2022 price x 100. Vendored snapshot; values rounded to 2 decimals.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1F2937"/>
                </a:solidFill>
              </a:rPr>
              <a:t>•  Caveat: timeline and co-movement, NOT a sole-cause claim.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Commodity Shock and Inflation - Executive Deck</dc:title>
  <dc:subject/>
  <dc:creator>Simon Sangla</dc:creator>
  <cp:keywords/>
  <dc:description/>
  <cp:lastModifiedBy>Simon Sangla</cp:lastModifiedBy>
  <cp:revision>1</cp:revision>
  <dcterms:created xsi:type="dcterms:W3CDTF">2013-01-27T09:14:16Z</dcterms:created>
  <dcterms:modified xsi:type="dcterms:W3CDTF">2013-01-27T09:15:58Z</dcterms:modified>
  <cp:category/>
</cp:coreProperties>
</file>